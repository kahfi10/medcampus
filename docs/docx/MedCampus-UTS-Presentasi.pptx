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MedCampus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0C4FF"/>
                </a:solidFill>
                <a:latin typeface="Calibri"/>
              </a:rPr>
              <a:t>Sistem Rekam Medis Klinik Kampus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063240"/>
            <a:ext cx="457200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246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E8E93"/>
                </a:solidFill>
                <a:latin typeface="Calibri"/>
              </a:rPr>
              <a:t>Secure Software Development Lifecycle (DevSecOps)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840480"/>
            <a:ext cx="1463040" cy="347472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OWASP Top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3840480"/>
            <a:ext cx="1463040" cy="347472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38404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STRIDE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3840480"/>
            <a:ext cx="1463040" cy="347472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38404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SAST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3840480"/>
            <a:ext cx="1463040" cy="34747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38404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8056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6E6E73"/>
                </a:solidFill>
                <a:latin typeface="Calibri"/>
              </a:rPr>
              <a:t>Ashabul Kahfi          — 105841100121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E6E73"/>
                </a:solidFill>
                <a:latin typeface="Calibri"/>
              </a:rPr>
              <a:t>Marhepi Rahmadani  — 105841109523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E6E73"/>
                </a:solidFill>
                <a:latin typeface="Calibri"/>
              </a:rPr>
              <a:t>Afra Muawiya             — 105841108423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E6E73"/>
                </a:solidFill>
                <a:latin typeface="Calibri"/>
              </a:rPr>
              <a:t>Alyah Saputri Bakri   — 105841107723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217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60"/>
                </a:solidFill>
                <a:latin typeface="Calibri"/>
              </a:rPr>
              <a:t>Universitas Muhammadiyah Makassar · 2025-2026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5943600"/>
            <a:ext cx="2926080" cy="5943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59436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medcampus.duckdns.org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Daftar Isi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1828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685800" cy="5029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BAB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704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Calibri"/>
              </a:rPr>
              <a:t>Pendahuluan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10512"/>
            <a:ext cx="685800" cy="5029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10512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BAB 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88366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Calibri"/>
              </a:rPr>
              <a:t>Analisis Kebutuhan &amp; Perancangan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23744"/>
            <a:ext cx="685800" cy="50292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23744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BAB III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59689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Calibri"/>
              </a:rPr>
              <a:t>Threat Modeling — STRIDE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36976"/>
            <a:ext cx="685800" cy="5029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36976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BAB IV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310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Calibri"/>
              </a:rPr>
              <a:t>OWASP Top 10 &amp; Secure Coding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097280"/>
            <a:ext cx="685800" cy="502920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09728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BAB 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11704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Calibri"/>
              </a:rPr>
              <a:t>Static Application Security Testing (SAST)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810512"/>
            <a:ext cx="685800" cy="502920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810512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BAB VI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188366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Calibri"/>
              </a:rPr>
              <a:t>Software Composition Analysis (SCA)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523744"/>
            <a:ext cx="685800" cy="502920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523744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BAB 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259689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Calibri"/>
              </a:rPr>
              <a:t>Penutup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4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BAB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Pendahuluan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490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DFF"/>
                </a:solidFill>
                <a:latin typeface="Calibri"/>
              </a:rPr>
              <a:t>Latar belakang, rumusan masalah, tujuan, dan batasan proyek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BAB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  <a:latin typeface="Calibri"/>
              </a:rPr>
              <a:t>Latar Belakang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  <a:latin typeface="Calibri"/>
              </a:rPr>
              <a:t>Permasalahan yang Ditemukan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669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D1D1F"/>
                </a:solidFill>
                <a:latin typeface="Calibri"/>
              </a:rPr>
              <a:t>•  Klinik kampus umumnya masih menggunakan pencatatan manual atau spreadsheet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D1D1F"/>
                </a:solidFill>
                <a:latin typeface="Calibri"/>
              </a:rPr>
              <a:t>•  Tidak ada kontrol akses — siapa saja bisa melihat rekam medis pasien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D1D1F"/>
                </a:solidFill>
                <a:latin typeface="Calibri"/>
              </a:rPr>
              <a:t>•  Tidak terdapat audit trail atas aktivitas yang dilakukan dalam sistem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D1D1F"/>
                </a:solidFill>
                <a:latin typeface="Calibri"/>
              </a:rPr>
              <a:t>•  Data medis yang sensitif rentan terhadap kebocoran dan manipulasi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6CC"/>
                </a:solidFill>
                <a:latin typeface="Calibri"/>
              </a:rPr>
              <a:t>Solusi: MedCampus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600200"/>
            <a:ext cx="5029200" cy="2194560"/>
          </a:xfrm>
          <a:prstGeom prst="rect">
            <a:avLst/>
          </a:prstGeom>
          <a:solidFill>
            <a:srgbClr val="EBF4FF"/>
          </a:solidFill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6916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D1D1F"/>
                </a:solidFill>
                <a:latin typeface="Calibri"/>
              </a:rPr>
              <a:t>•  Digitalisasi rekam medis klinik kampus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D1D1F"/>
                </a:solidFill>
                <a:latin typeface="Calibri"/>
              </a:rPr>
              <a:t>•  Autentikasi berlapis dengan JWT + RBAC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D1D1F"/>
                </a:solidFill>
                <a:latin typeface="Calibri"/>
              </a:rPr>
              <a:t>•  Perlindungan data medis (IDOR protection)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D1D1F"/>
                </a:solidFill>
                <a:latin typeface="Calibri"/>
              </a:rPr>
              <a:t>•  Audit trail otomatis setiap aktivitas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D1D1F"/>
                </a:solidFill>
                <a:latin typeface="Calibri"/>
              </a:rPr>
              <a:t>•  Dibangun dengan prinsip SSDLC penuh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6E6E73"/>
                </a:solidFill>
                <a:latin typeface="Calibri"/>
              </a:rPr>
              <a:t>"Keamanan bukan fitur. Ini adalah fondasi."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BAB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  <a:latin typeface="Calibri"/>
              </a:rPr>
              <a:t>Rumusan Masalah &amp; Tujuan Proyek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  <a:latin typeface="Calibri"/>
              </a:rPr>
              <a:t>Rumusan Masalah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D1D1F"/>
                </a:solidFill>
                <a:latin typeface="Calibri"/>
              </a:rPr>
              <a:t>•  Bagaimana membangun sistem rekam medis klinik kampus yang aman menggunakan SSDLC?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D1D1F"/>
                </a:solidFill>
                <a:latin typeface="Calibri"/>
              </a:rPr>
              <a:t>•  Bagaimana mengidentifikasi ancaman keamanan menggunakan metode STRIDE?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D1D1F"/>
                </a:solidFill>
                <a:latin typeface="Calibri"/>
              </a:rPr>
              <a:t>•  Bagaimana menerapkan standar keamanan OWASP Top 10 dalam pengembangan aplikasi?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D1D1F"/>
                </a:solidFill>
                <a:latin typeface="Calibri"/>
              </a:rPr>
              <a:t>•  Bagaimana melakukan pengujian keamanan menggunakan SAST dan SCA?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  <a:latin typeface="Calibri"/>
              </a:rPr>
              <a:t>Tujuan Proyek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D1D1F"/>
                </a:solidFill>
                <a:latin typeface="Calibri"/>
              </a:rPr>
              <a:t>•  Mengembangkan aplikasi web rekam medis yang fungsional dan aman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D1D1F"/>
                </a:solidFill>
                <a:latin typeface="Calibri"/>
              </a:rPr>
              <a:t>•  Mengidentifikasi ancaman dengan Threat Modeling STRIDE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D1D1F"/>
                </a:solidFill>
                <a:latin typeface="Calibri"/>
              </a:rPr>
              <a:t>•  Menerapkan secure coding sesuai standar OWASP Top 10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D1D1F"/>
                </a:solidFill>
                <a:latin typeface="Calibri"/>
              </a:rPr>
              <a:t>•  Melakukan SAST &amp; SCA dan mendokumentasikan hasilnya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D1D1F"/>
                </a:solidFill>
                <a:latin typeface="Calibri"/>
              </a:rPr>
              <a:t>•  Mendeploy aplikasi di lingkungan produksi (Oracle Cloud)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E6E73"/>
                </a:solidFill>
                <a:latin typeface="Calibri"/>
              </a:rPr>
              <a:t>Batasan: Aplikasi berjalan di lingkungan kampus (non-publik). Tidak terhubung ke BPJS atau sistem rekam medis eksternal.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4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BAB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Analisis Kebutuhan &amp; Perancangan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490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DFF"/>
                </a:solidFill>
                <a:latin typeface="Calibri"/>
              </a:rPr>
              <a:t>Studi kasus, aktor, arsitektur, dan desain database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BAB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  <a:latin typeface="Calibri"/>
              </a:rPr>
              <a:t>Studi Kasus &amp; Identifikasi Aktor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6CC"/>
                </a:solidFill>
                <a:latin typeface="Calibri"/>
              </a:rPr>
              <a:t>Sistem Rekam Medis Klinik Kampus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Calibri"/>
              </a:rPr>
              <a:t>Platform web terdistribusi untuk mengelola kunjungan pasien, input rekam medis dokter, dan administrasi data klinik kampus dengan standar keamanan DevSecOps.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3566160" cy="13716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🔴  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57600"/>
            <a:ext cx="3566160" cy="1188720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Calibri"/>
              </a:rPr>
              <a:t>Kelola akun, obat, kunjungan, audit log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2286000"/>
            <a:ext cx="3566160" cy="1371600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🟢  Dokter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3657600"/>
            <a:ext cx="3566160" cy="1188720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19" y="3749039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Calibri"/>
              </a:rPr>
              <a:t>Input rekam medis, antrian, resep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8" y="2286000"/>
            <a:ext cx="3566160" cy="13716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8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🔵  Pasien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18" y="3657600"/>
            <a:ext cx="3566160" cy="1188720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58" y="3749039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Calibri"/>
              </a:rPr>
              <a:t>Daftar kunjungan, lihat rekam medis sendiri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BAB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  <a:latin typeface="Calibri"/>
              </a:rPr>
              <a:t>Arsitektur Terdistribusi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5943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1D1D1F"/>
                </a:solidFill>
                <a:latin typeface="Courier New"/>
              </a:rPr>
              <a:t>
                    Internet
                        │
              ┌─────────▼──────────┐
              │      DuckDNS       │
              │ medcampus.duckdns  │
              └─────────┬──────────┘
                        │
          ┌─────────────▼───────────────┐
          │    Oracle Cloud VM ARM      │
          │    Ubuntu 22.04 · PM2       │
          │                             │
          │  ┌──────────────────────┐   │
          │  │  Nginx + SSL (443)   │   │
          │  └──────┬──────────┬────┘   │
          │         │          │         │
          │    /     │     /api/*        │
          │         │          │         │
          │  ┌──────▼──┐  ┌────▼─────┐  │
          │  │ Next.js  │  │Express.js│  │
          │  │ Frontend │  │ REST API │  │
          │  └──────────┘  └────┬─────┘  │
          │                     │         │
          │              ┌──────▼──────┐  │
          │              │    MySQL    │  │
          │              └─────────────┘  │
          └─────────────────────────────┘
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188720"/>
            <a:ext cx="5212080" cy="822960"/>
          </a:xfrm>
          <a:prstGeom prst="rect">
            <a:avLst/>
          </a:prstGeom>
          <a:noFill/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188720"/>
            <a:ext cx="73152" cy="8229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2344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Calibri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Calibri"/>
              </a:rPr>
              <a:t>Next.js 14 · GSAP · shadcn/ui · TypeScript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103120"/>
            <a:ext cx="5212080" cy="822960"/>
          </a:xfrm>
          <a:prstGeom prst="rect">
            <a:avLst/>
          </a:prstGeom>
          <a:noFill/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103120"/>
            <a:ext cx="73152" cy="82296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48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Calibr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468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Calibri"/>
              </a:rPr>
              <a:t>Express.js · Prisma ORM · TypeScript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017520"/>
            <a:ext cx="5212080" cy="822960"/>
          </a:xfrm>
          <a:prstGeom prst="rect">
            <a:avLst/>
          </a:prstGeom>
          <a:noFill/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3017520"/>
            <a:ext cx="73152" cy="822960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3063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Calibri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383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Calibri"/>
              </a:rPr>
              <a:t>MySQL (MariaDB) · Prisma migrations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3931920"/>
            <a:ext cx="5212080" cy="822960"/>
          </a:xfrm>
          <a:prstGeom prst="rect">
            <a:avLst/>
          </a:prstGeom>
          <a:noFill/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3931920"/>
            <a:ext cx="73152" cy="82296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3977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Calibri"/>
              </a:rPr>
              <a:t>DevOps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Calibri"/>
              </a:rPr>
              <a:t>Oracle Cloud · PM2 · Nginx · Certbot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BAB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  <a:latin typeface="Calibri"/>
              </a:rPr>
              <a:t>Desain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D1D1F"/>
                </a:solidFill>
                <a:latin typeface="Courier New"/>
              </a:rPr>
              <a:t>
  ┌─────────────────────────────────────────────────────────────────────────┐
  │                           SCHEMA DATABASE                               │
  └─────────────────────────────────────────────────────────────────────────┘
  ┌──────────────┐      ┌───────────────────┐      ┌─────────────────────┐
  │     User     │      │     Kunjungan      │      │     RekamMedis      │
  ├──────────────┤      ├───────────────────┤      ├─────────────────────┤
  │ id (PK)      │─────▶│ id (PK)           │─────▶│ id (PK)             │
  │ nama         │      │ pasienId (FK)     │      │ kunjunganId (FK,UQ) │
  │ email        │      │ tanggal           │      │ dokterId (FK)       │
  │ password     │◀─────│ keluhan           │      │ diagnosa            │
  │ role         │      │ status            │      │ tindakan            │
  │ nim / nip    │      └───────────────────┘      │ catatan             │
  │ golDarah     │                                  └──────────┬──────────┘
  │ alergi       │      ┌───────────────────┐                 │
  └──────────────┘      │     AuditLog       │      ┌──────────▼──────────┐
          │             ├───────────────────┤      │      ResepObat       │
          └────────────▶│ userId (FK)       │      ├─────────────────────┤
                        │ aksi              │      │ rekamMedisId (FK)   │
                        │ detail            │      │ obatId (FK)         │
                        │ ipAddress         │      │ jumlah              │
                        └───────────────────┘      └──────────┬──────────┘
                                                              │
                                                   ┌──────────▼──────────┐
                                                   │        Obat          │
                                                   ├─────────────────────┤
                                                   │ id · nama · stok     │
                                                   └─────────────────────┘
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BAB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  <a:latin typeface="Calibri"/>
              </a:rPr>
              <a:t>Kebutuhan Keamanan Minimal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3444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Kode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Kebutuhan Keamanan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Implementasi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KK-01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Validasi &amp; sanitasi 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express-validator semua endpoint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KK-02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Parameterized query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Prisma ORM — no raw SQL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KK-03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Password hashing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bcryptjs dengan algoritma aman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KK-04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Session management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JWT access token + refresh token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KK-05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Pembatasan hak akses (RBAC)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authorize() middleware per endpoint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KK-06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Pencegahan IDOR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Ownership check di rekam medis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KK-07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Error handling aman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Generic message, no stack trace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KK-08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Rate limiting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Brute force protection pada login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KK-09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Audit trail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AuditLog — semua aktivitas sensitif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KK-10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Konfigurasi aman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Environment variable (.env)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9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18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BAB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Threat Modeling — STRIDE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490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DFF"/>
                </a:solidFill>
                <a:latin typeface="Calibri"/>
              </a:rPr>
              <a:t>Identifikasi ancaman menggunakan metode STRIDE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BAB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  <a:latin typeface="Calibri"/>
              </a:rPr>
              <a:t>Metode STRIDE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48640" cy="65836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48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1234440"/>
            <a:ext cx="1417320" cy="658368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2801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Calibri"/>
              </a:rPr>
              <a:t>Spoofing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5819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Calibri"/>
              </a:rPr>
              <a:t>Penyamaran identitas pengguna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2031" y="1234440"/>
            <a:ext cx="548640" cy="658368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42031" y="1234440"/>
            <a:ext cx="548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36391" y="1234440"/>
            <a:ext cx="1417320" cy="658368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1" y="12801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Calibri"/>
              </a:rPr>
              <a:t>Tampering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1" y="15819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Calibri"/>
              </a:rPr>
              <a:t>Manipulasi data/parameter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26862" y="1234440"/>
            <a:ext cx="548640" cy="658368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2" y="1234440"/>
            <a:ext cx="548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21222" y="1234440"/>
            <a:ext cx="1417320" cy="658368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6942" y="12801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Calibri"/>
              </a:rPr>
              <a:t>Repudiation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2" y="15819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Calibri"/>
              </a:rPr>
              <a:t>Penyangkalan aktivitas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11693" y="1234440"/>
            <a:ext cx="54864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3" y="1234440"/>
            <a:ext cx="548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6053" y="1234440"/>
            <a:ext cx="1417320" cy="658368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51773" y="12801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Calibri"/>
              </a:rPr>
              <a:t>Information Disclosure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1773" y="15819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Calibri"/>
              </a:rPr>
              <a:t>Kebocoran data sensitif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96524" y="1234440"/>
            <a:ext cx="548640" cy="65836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96524" y="1234440"/>
            <a:ext cx="548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90884" y="1234440"/>
            <a:ext cx="1417320" cy="658368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36604" y="12801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Calibri"/>
              </a:rPr>
              <a:t>Denial of 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36604" y="15819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Calibri"/>
              </a:rPr>
              <a:t>Penolakan layanan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011680"/>
            <a:ext cx="548640" cy="658368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2011680"/>
            <a:ext cx="548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1560" y="2011680"/>
            <a:ext cx="1417320" cy="658368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205740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Calibri"/>
              </a:rPr>
              <a:t>Elevation of Privilege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235915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Calibri"/>
              </a:rPr>
              <a:t>Eskalasi hak akses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017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Calibri"/>
              </a:rPr>
              <a:t>Entry Points Utama: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364992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POST /api/auth/login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POST /api/auth/register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GET /api/rekam-medis/:id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PUT /api/kunjungan/:id/status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POST /api/rekam-medis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0175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Calibri"/>
              </a:rPr>
              <a:t>Trust Boundaries: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364992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Browser ↔ Nginx (SSL termination)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Nginx ↔ Next.js (localhost)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Nginx ↔ Express (localhost)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Express ↔ MySQL (127.0.0.1)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PASIEN ↔ DOKTER (role boundary)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BAB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  <a:latin typeface="Calibri"/>
              </a:rPr>
              <a:t>Tabel Threat Modeling (STRIDE)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3444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FF9F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Ancaman</a:t>
                      </a:r>
                    </a:p>
                  </a:txBody>
                  <a:tcPr>
                    <a:solidFill>
                      <a:srgbClr val="FF9F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Kategori</a:t>
                      </a:r>
                    </a:p>
                  </a:txBody>
                  <a:tcPr>
                    <a:solidFill>
                      <a:srgbClr val="FF9F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Risiko</a:t>
                      </a:r>
                    </a:p>
                  </a:txBody>
                  <a:tcPr>
                    <a:solidFill>
                      <a:srgbClr val="FF9F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Mitigasi</a:t>
                      </a:r>
                    </a:p>
                  </a:txBody>
                  <a:tcPr>
                    <a:solidFill>
                      <a:srgbClr val="FF9F0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TM-01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Brute force 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Spoofing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Rate limiting + bcrypt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TM-02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Manipulasi ID rekam medis (IDOR)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Tampering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Ownership check server-side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TM-03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Dokter menyangkal input diagnosa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Repudiation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AuditLog REKAM_MEDIS_CREATED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TM-04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Data sensitif dalam response error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Info Disclosure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Generic error handler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TM-05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Flood request 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Rate limiting 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TM-06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Pasien akses endpoint dokter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Priv. Esc.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RBAC authorize() middleware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TM-07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Token JWT dicuri via XSS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Info Disclosure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HTTPS only + security headers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TM-08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SQL Injection via input field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Tampering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Prisma ORM parameterized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TM-09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Credential DB bocor ke repo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Info Disclosure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.env + .gitignore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TM-10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Mass registration spam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DoS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Input validation + rate limit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TM-11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Stok obat dimanipulasi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Tampering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Prisma transaction + validasi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TM-12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Akses audit log oleh non-admin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Info Disclosure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authorize('ADMIN') middleware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3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11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BAB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OWASP Top 10 &amp; Secure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490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DFF"/>
                </a:solidFill>
                <a:latin typeface="Calibri"/>
              </a:rPr>
              <a:t>Identifikasi kerentanan dan penerapan secure coding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BAB 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  <a:latin typeface="Calibri"/>
              </a:rPr>
              <a:t>Analisis OWASP Top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34440"/>
          <a:ext cx="116128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44888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FF3B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Lokasi</a:t>
                      </a:r>
                    </a:p>
                  </a:txBody>
                  <a:tcPr>
                    <a:solidFill>
                      <a:srgbClr val="FF3B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Kerentanan</a:t>
                      </a:r>
                    </a:p>
                  </a:txBody>
                  <a:tcPr>
                    <a:solidFill>
                      <a:srgbClr val="FF3B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Kategori OWASP</a:t>
                      </a:r>
                    </a:p>
                  </a:txBody>
                  <a:tcPr>
                    <a:solidFill>
                      <a:srgbClr val="FF3B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>
                    <a:solidFill>
                      <a:srgbClr val="FF3B30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OW-01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GET /rekam-medis/:id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IDOR — akses data orang lain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A01 Broken Access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OW-02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Query database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SQL Injection via raw string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A03 Injection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OW-03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Register endpoint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Password disimpan plaintext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A02 Cryptographic Failures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OW-04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Endpoint Dokter/Admin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Pasien akses endpoint dokter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A01 Broken Access Control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OW-05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Form 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Brute force tanpa pembatasan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A07 Auth Failures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OW-06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Error handler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Stack trace dikirim ke client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A05 Security Misconfig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OW-07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Konfigurasi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Hardcoded credential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A05 Security Misconfig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OW-08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AuditLog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Tidak ada logging login gagal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A09 Logging Failures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OW-09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yamljs versi rentan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A06 Vulnerable Components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9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OW-10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POST /rekam-medis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Stok obat tidak berkurang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A04 Insecure Design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BAB 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  <a:latin typeface="Calibri"/>
              </a:rPr>
              <a:t>Penerapan Secure Coding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577840" cy="2377440"/>
          </a:xfrm>
          <a:prstGeom prst="rect">
            <a:avLst/>
          </a:prstGeom>
          <a:noFill/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577840" cy="411480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7101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Calibri"/>
              </a:rPr>
              <a:t>SC-01
Parameterized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D1D1F"/>
                </a:solidFill>
                <a:latin typeface="Courier New"/>
              </a:rPr>
              <a:t>❌  RENTAN:
const q = `SELECT * WHERE nama='${name}'`
db.query(q)
✅  AMAN:
await prisma.user.findMany({
  where: { nama: { contains: search } }
})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577840" cy="2377440"/>
          </a:xfrm>
          <a:prstGeom prst="rect">
            <a:avLst/>
          </a:prstGeom>
          <a:noFill/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5577840" cy="411480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7101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Calibri"/>
              </a:rPr>
              <a:t>SC-02
Password Hashing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69164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D1D1F"/>
                </a:solidFill>
                <a:latin typeface="Courier New"/>
              </a:rPr>
              <a:t>❌  RENTAN:
db.query(`INSERT ... VALUES ('${password}')`)
✅  AMAN:
const hash = await bcrypt.hash(password, SALT_ROUNDS)
await prisma.user.create({ data: { password: hash } })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94760"/>
            <a:ext cx="5577840" cy="2377440"/>
          </a:xfrm>
          <a:prstGeom prst="rect">
            <a:avLst/>
          </a:prstGeom>
          <a:noFill/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577840" cy="411480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83133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Calibri"/>
              </a:rPr>
              <a:t>SC-03
IDOR Protection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5196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D1D1F"/>
                </a:solidFill>
                <a:latin typeface="Courier New"/>
              </a:rPr>
              <a:t>❌  RENTAN:
// Tidak ada cek kepemilikan
return await prisma.rekamMedis.findUnique(...)
✅  AMAN:
if (req.user.role === 'PASIEN' &amp;&amp;
    rekam.pasienId !== req.user.userId)
  throw new AppError(403, 'Akses ditolak')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794760"/>
            <a:ext cx="5577840" cy="2377440"/>
          </a:xfrm>
          <a:prstGeom prst="rect">
            <a:avLst/>
          </a:prstGeom>
          <a:noFill/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794760"/>
            <a:ext cx="5577840" cy="411480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83133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Calibri"/>
              </a:rPr>
              <a:t>SC-04
Rate Limiting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25196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D1D1F"/>
                </a:solidFill>
                <a:latin typeface="Courier New"/>
              </a:rPr>
              <a:t>❌  RENTAN:
// Tidak ada pembatasan
router.post('/login', loginHandler)
✅  AMAN:
const authLimiter = rateLimit({ max: 5 })
router.post('/login', authLimiter, loginHandler)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BAB 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  <a:latin typeface="Calibri"/>
              </a:rPr>
              <a:t>Perbandingan Before vs After Perbaikan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394960" cy="5029200"/>
          </a:xfrm>
          <a:prstGeom prst="rect">
            <a:avLst/>
          </a:prstGeom>
          <a:noFill/>
          <a:ln w="1270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394960" cy="41148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❌  SEBELUM PERBAIKAN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D1D1F"/>
                </a:solidFill>
                <a:latin typeface="Calibri"/>
              </a:rPr>
              <a:t>•  Raw SQL dari input pengguna (SQL Injection)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D1D1F"/>
                </a:solidFill>
                <a:latin typeface="Calibri"/>
              </a:rPr>
              <a:t>•  Password disimpan plaintext di database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D1D1F"/>
                </a:solidFill>
                <a:latin typeface="Calibri"/>
              </a:rPr>
              <a:t>•  Tidak ada pengecekan kepemilikan (IDOR)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D1D1F"/>
                </a:solidFill>
                <a:latin typeface="Calibri"/>
              </a:rPr>
              <a:t>•  Login tanpa rate limiting (brute force)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D1D1F"/>
                </a:solidFill>
                <a:latin typeface="Calibri"/>
              </a:rPr>
              <a:t>•  Stack trace dikirim ke client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D1D1F"/>
                </a:solidFill>
                <a:latin typeface="Calibri"/>
              </a:rPr>
              <a:t>•  Credential hardcoded di source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34440"/>
            <a:ext cx="5394960" cy="5029200"/>
          </a:xfrm>
          <a:prstGeom prst="rect">
            <a:avLst/>
          </a:prstGeom>
          <a:noFill/>
          <a:ln w="12700">
            <a:solidFill>
              <a:srgbClr val="30B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234440"/>
            <a:ext cx="5394960" cy="411480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✅  SESUDAH PERBAIKAN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73736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D1D1F"/>
                </a:solidFill>
                <a:latin typeface="Calibri"/>
              </a:rPr>
              <a:t>•  Prisma ORM — parameterized query otomatis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D1D1F"/>
                </a:solidFill>
                <a:latin typeface="Calibri"/>
              </a:rPr>
              <a:t>•  bcrypt hashing sebelum disimpan ke DB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D1D1F"/>
                </a:solidFill>
                <a:latin typeface="Calibri"/>
              </a:rPr>
              <a:t>•  Ownership check di setiap endpoint sensitif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D1D1F"/>
                </a:solidFill>
                <a:latin typeface="Calibri"/>
              </a:rPr>
              <a:t>•  Rate limiting dengan lockout otomatis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D1D1F"/>
                </a:solidFill>
                <a:latin typeface="Calibri"/>
              </a:rPr>
              <a:t>•  Generic error message — tanpa detail internal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D1D1F"/>
                </a:solidFill>
                <a:latin typeface="Calibri"/>
              </a:rPr>
              <a:t>•  Semua secret di .env, tidak di-commit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3474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E6E73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56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A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BAB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Static Application Security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490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DFF"/>
                </a:solidFill>
                <a:latin typeface="Calibri"/>
              </a:rPr>
              <a:t>Analisis keamanan source code dengan ESLint Security Plugin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BAB 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  <a:latin typeface="Calibri"/>
              </a:rPr>
              <a:t>Tools &amp; Konfigurasi SAST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56D6"/>
                </a:solidFill>
                <a:latin typeface="Calibri"/>
              </a:rPr>
              <a:t>Tools: ESLint Security Plugin (eslint-plugin-security)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Calibri"/>
              </a:rPr>
              <a:t>Alasan: Kompatibel dengan ekosistem Node.js/TypeScript di Windows. Mendeteksi SQL injection, hardcoded credentials, unsafe regex, dan pola berbahaya lainnya.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3474720" cy="1280160"/>
          </a:xfrm>
          <a:prstGeom prst="rect">
            <a:avLst/>
          </a:prstGeom>
          <a:noFill/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54864" cy="12801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39572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Total Temuan Awal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670048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1D1F"/>
                </a:solidFill>
                <a:latin typeface="Calibri"/>
              </a:rPr>
              <a:t>7 Issues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2286000"/>
            <a:ext cx="3474720" cy="1280160"/>
          </a:xfrm>
          <a:prstGeom prst="rect">
            <a:avLst/>
          </a:prstGeom>
          <a:noFill/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2286000"/>
            <a:ext cx="54864" cy="12801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9392" y="239572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2670048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1D1F"/>
                </a:solidFill>
                <a:latin typeface="Calibri"/>
              </a:rPr>
              <a:t>3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286000"/>
            <a:ext cx="3474720" cy="1280160"/>
          </a:xfrm>
          <a:prstGeom prst="rect">
            <a:avLst/>
          </a:prstGeom>
          <a:noFill/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2286000"/>
            <a:ext cx="54864" cy="128016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239572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670048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1D1F"/>
                </a:solidFill>
                <a:latin typeface="Calibri"/>
              </a:rPr>
              <a:t>4 Findings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49039"/>
            <a:ext cx="3474720" cy="1280160"/>
          </a:xfrm>
          <a:prstGeom prst="rect">
            <a:avLst/>
          </a:prstGeom>
          <a:noFill/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749039"/>
            <a:ext cx="54864" cy="1280160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3858767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Setelah Perbaikan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4133087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1D1F"/>
                </a:solidFill>
                <a:latin typeface="Calibri"/>
              </a:rPr>
              <a:t>0 Issues 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3749039"/>
            <a:ext cx="3474720" cy="1280160"/>
          </a:xfrm>
          <a:prstGeom prst="rect">
            <a:avLst/>
          </a:prstGeom>
          <a:noFill/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0" y="3749039"/>
            <a:ext cx="54864" cy="1280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9392" y="3858767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True Positive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392" y="4133087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1D1F"/>
                </a:solidFill>
                <a:latin typeface="Calibri"/>
              </a:rPr>
              <a:t>7 / 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3749039"/>
            <a:ext cx="3474720" cy="1280160"/>
          </a:xfrm>
          <a:prstGeom prst="rect">
            <a:avLst/>
          </a:prstGeom>
          <a:noFill/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3749039"/>
            <a:ext cx="54864" cy="1280160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6992" y="3858767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False Positive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36992" y="4133087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1D1F"/>
                </a:solidFill>
                <a:latin typeface="Calibri"/>
              </a:rPr>
              <a:t>0 / 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BAB 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  <a:latin typeface="Calibri"/>
              </a:rPr>
              <a:t>Hasil Pemindaian SAST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3444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585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Temuan</a:t>
                      </a:r>
                    </a:p>
                  </a:txBody>
                  <a:tcPr>
                    <a:solidFill>
                      <a:srgbClr val="585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>
                    <a:solidFill>
                      <a:srgbClr val="585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585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Tindakan</a:t>
                      </a:r>
                    </a:p>
                  </a:txBody>
                  <a:tcPr>
                    <a:solidFill>
                      <a:srgbClr val="5856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SAST-01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Hardcoded DB 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True 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Pindah ke .env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SAST-02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SQL Injection via string concat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True Positive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Gunakan Prisma ORM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SAST-03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Stack trace ke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True 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Generic error handler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SAST-04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Password disimpan plaintext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True Positive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bcrypt.hash()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SAST-05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IDOR — no ownership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True 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Ownership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SAST-06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No rate limiting pada login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True Positive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express-rate-limit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SAST-07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Hardcoded JWT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True 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jwt.sign() + env secret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Calibri"/>
              </a:rPr>
              <a:t>Perbandingan Hasil: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532120"/>
            <a:ext cx="3200400" cy="5943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5321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BEFORE:  3 Critical + 4 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5532120"/>
            <a:ext cx="548640" cy="5943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55321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E6E73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5532120"/>
            <a:ext cx="3200400" cy="594360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55321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AFTER:  0 Issues ✓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B8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29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BAB 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Software Composition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490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DFF"/>
                </a:solidFill>
                <a:latin typeface="Calibri"/>
              </a:rPr>
              <a:t>Audit keamanan dependency menggunakan npm audit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BAB 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  <a:latin typeface="Calibri"/>
              </a:rPr>
              <a:t>Hasil Pemindaian SCA — Before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657600" cy="1280160"/>
          </a:xfrm>
          <a:prstGeom prst="rect">
            <a:avLst/>
          </a:prstGeom>
          <a:noFill/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4864" cy="128016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34416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Server Vulnerabilities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618488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1D1F"/>
                </a:solidFill>
                <a:latin typeface="Calibri"/>
              </a:rPr>
              <a:t>4 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234440"/>
            <a:ext cx="3657600" cy="1280160"/>
          </a:xfrm>
          <a:prstGeom prst="rect">
            <a:avLst/>
          </a:prstGeom>
          <a:noFill/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54864" cy="12801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34416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Client Vulnerabilities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618488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1D1F"/>
                </a:solidFill>
                <a:latin typeface="Calibri"/>
              </a:rPr>
              <a:t>16 HIGH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234440"/>
            <a:ext cx="3657600" cy="1280160"/>
          </a:xfrm>
          <a:prstGeom prst="rect">
            <a:avLst/>
          </a:prstGeom>
          <a:noFill/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234440"/>
            <a:ext cx="54864" cy="12801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134416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Total Sebelum 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1618488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1D1F"/>
                </a:solidFill>
                <a:latin typeface="Calibri"/>
              </a:rPr>
              <a:t>20 HIGH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74320" y="2606040"/>
          <a:ext cx="116128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8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30B8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Package</a:t>
                      </a:r>
                    </a:p>
                  </a:txBody>
                  <a:tcPr>
                    <a:solidFill>
                      <a:srgbClr val="30B8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Versi</a:t>
                      </a:r>
                    </a:p>
                  </a:txBody>
                  <a:tcPr>
                    <a:solidFill>
                      <a:srgbClr val="30B8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CVE</a:t>
                      </a:r>
                    </a:p>
                  </a:txBody>
                  <a:tcPr>
                    <a:solidFill>
                      <a:srgbClr val="30B8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>
                    <a:solidFill>
                      <a:srgbClr val="30B8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Workspace</a:t>
                      </a:r>
                    </a:p>
                  </a:txBody>
                  <a:tcPr>
                    <a:solidFill>
                      <a:srgbClr val="30B8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Tindakan</a:t>
                      </a:r>
                    </a:p>
                  </a:txBody>
                  <a:tcPr>
                    <a:solidFill>
                      <a:srgbClr val="30B86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SCA-S01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yamljs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&gt;=0.2.8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GHSA-mh99-v99m-4gvg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Hapus package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SCA-S02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glob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4.3.0-10.5.0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via minimatch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Server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Hapus via yamljs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SCA-S03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minimatch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2.0.0-10.0.2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via brace-expansion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Hapus via yamljs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SCA-S04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brace-expansion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&lt;=5.0.7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GHSA-mh99-v99m-4gvg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Server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Hapus via yamljs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SCA-C01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next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14.2.15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Multiple CVEs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Upgrade ke 14.2.35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SCA-C02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postcss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&lt;=8.5.17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GHSA-qx2v-qp2m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Client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Risk acceptance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SCA-C03-C16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eslint chain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various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via brace-expansion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Client (Dev)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D1F"/>
                          </a:solidFill>
                          <a:latin typeface="Calibri"/>
                        </a:rPr>
                        <a:t>Risk acceptance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BAB 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  <a:latin typeface="Calibri"/>
              </a:rPr>
              <a:t>Hasil Perbaikan &amp; Risk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  <a:latin typeface="Calibri"/>
              </a:rPr>
              <a:t>Perbandingan Before vs After: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2926080" cy="475488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Calibri"/>
              </a:rPr>
              <a:t>apps/server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600200"/>
            <a:ext cx="1645920" cy="47548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691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 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6916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E6E73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600200"/>
            <a:ext cx="1645920" cy="475488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691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 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167128"/>
            <a:ext cx="2926080" cy="475488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2585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Calibri"/>
              </a:rPr>
              <a:t>apps/client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2167128"/>
            <a:ext cx="1645920" cy="47548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2585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16 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2585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E6E73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2167128"/>
            <a:ext cx="1645920" cy="475488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22585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16 HIGH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734056"/>
            <a:ext cx="2926080" cy="475488"/>
          </a:xfrm>
          <a:prstGeom prst="rect">
            <a:avLst/>
          </a:prstGeom>
          <a:solidFill>
            <a:srgbClr val="F5F5F7"/>
          </a:solidFill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8254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Calibri"/>
              </a:rPr>
              <a:t>Total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2734056"/>
            <a:ext cx="1645920" cy="47548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28254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20 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82549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E6E73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2734056"/>
            <a:ext cx="1645920" cy="475488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28254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16 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  <a:latin typeface="Calibri"/>
              </a:rPr>
              <a:t>Risk Acceptance — Client Vulnerabilities: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300984"/>
            <a:ext cx="11247120" cy="685800"/>
          </a:xfrm>
          <a:prstGeom prst="rect">
            <a:avLst/>
          </a:prstGeom>
          <a:noFill/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300984"/>
            <a:ext cx="73152" cy="685800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346704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Calibri"/>
              </a:rPr>
              <a:t>eslint chain
15 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3465576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Calibri"/>
              </a:rPr>
              <a:t>devDependencies — tidak masuk production build, tidak di-deploy ke server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24160" y="3438144"/>
            <a:ext cx="1097280" cy="411480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24160" y="3438144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Acceptable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123944"/>
            <a:ext cx="11247120" cy="685800"/>
          </a:xfrm>
          <a:prstGeom prst="rect">
            <a:avLst/>
          </a:prstGeom>
          <a:noFill/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123944"/>
            <a:ext cx="73152" cy="68580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169664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Calibri"/>
              </a:rPr>
              <a:t>next.js CVEs
1 HIGH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0" y="4288536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Calibri"/>
              </a:rPr>
              <a:t>Mayoritas CVE terkait Server Actions &amp; i18n yang tidak digunakan di aplikasi ini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24160" y="4261104"/>
            <a:ext cx="1097280" cy="41148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0" y="4261104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Acceptable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BAB 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Penutup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490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DFF"/>
                </a:solidFill>
                <a:latin typeface="Calibri"/>
              </a:rPr>
              <a:t>Kesimpulan, rekomendasi, dan kontribusi tim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BAB 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  <a:latin typeface="Calibri"/>
              </a:rPr>
              <a:t>Kesimpulan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0" cy="5943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16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Calibri"/>
              </a:rPr>
              <a:t>Analisis Kebutuhan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63040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6E73"/>
                </a:solidFill>
                <a:latin typeface="Calibri"/>
              </a:rPr>
              <a:t>10 kebutuhan fungsional dan 10 kebutuhan keamanan berhasil diidentifikasi dan diimplementasikan dalam aplikasi MedCampus.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01952"/>
            <a:ext cx="548640" cy="59436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0195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2938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Calibri"/>
              </a:rPr>
              <a:t>Threat Modeling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176272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6E73"/>
                </a:solidFill>
                <a:latin typeface="Calibri"/>
              </a:rPr>
              <a:t>12 ancaman diidentifikasi menggunakan metode STRIDE. Seluruh ancaman telah dimitigasi dengan kontrol keamanan yang tepat.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15184"/>
            <a:ext cx="548640" cy="5943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15184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64261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Calibri"/>
              </a:rPr>
              <a:t>OWASP Top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889504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6E73"/>
                </a:solidFill>
                <a:latin typeface="Calibri"/>
              </a:rPr>
              <a:t>10 potensi kerentanan dianalisis. Setiap kerentanan diperbaiki dengan penerapan secure coding yang sesuai.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28416"/>
            <a:ext cx="548640" cy="594360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28416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35584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Calibri"/>
              </a:rPr>
              <a:t>SAST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602736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6E73"/>
                </a:solidFill>
                <a:latin typeface="Calibri"/>
              </a:rPr>
              <a:t>7 temuan (3 Critical, 4 High) pada kode rentan berhasil diperbaiki. Production code bebas dari temuan SAST.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41648"/>
            <a:ext cx="548640" cy="594360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4164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0690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Calibri"/>
              </a:rPr>
              <a:t>SCA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315968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6E73"/>
                </a:solidFill>
                <a:latin typeface="Calibri"/>
              </a:rPr>
              <a:t>20 HIGH dependency → 16 setelah fix. 4 HIGH server tereliminasi. Risk acceptance terdokumentasi untuk sisanya.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54880"/>
            <a:ext cx="548640" cy="5943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7548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78231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Calibri"/>
              </a:rPr>
              <a:t>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029200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6E73"/>
                </a:solidFill>
                <a:latin typeface="Calibri"/>
              </a:rPr>
              <a:t>Aplikasi berhasil di-deploy di Oracle Cloud dengan HTTPS via Certbot dan dapat diakses di medcampus.duckdns.org.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BAB 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  <a:latin typeface="Calibri"/>
              </a:rPr>
              <a:t>Kontribusi &amp; Rekomendasi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1064240" cy="1828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  <a:latin typeface="Calibri"/>
              </a:rPr>
              <a:t>Kontribusi Anggota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27632"/>
            <a:ext cx="5486400" cy="640080"/>
          </a:xfrm>
          <a:prstGeom prst="rect">
            <a:avLst/>
          </a:prstGeom>
          <a:noFill/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73152" cy="6400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67335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Calibri"/>
              </a:rPr>
              <a:t>Ashabul Kahfi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92938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105841100121  ·  Full-Stack Developer — Backend, Frontend, Database, Deployment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5486400" cy="640080"/>
          </a:xfrm>
          <a:prstGeom prst="rect">
            <a:avLst/>
          </a:prstGeom>
          <a:noFill/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377440"/>
            <a:ext cx="73152" cy="6400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231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Calibri"/>
              </a:rPr>
              <a:t>Marhepi Rahmadani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67919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105841109523  ·  Security &amp; Documentation — SAST, SCA, Threat Modeling, Laporan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27248"/>
            <a:ext cx="5486400" cy="640080"/>
          </a:xfrm>
          <a:prstGeom prst="rect">
            <a:avLst/>
          </a:prstGeom>
          <a:noFill/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127248"/>
            <a:ext cx="73152" cy="6400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1729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Calibri"/>
              </a:rPr>
              <a:t>Afra Muawiya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4290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105841108423  ·  UI/UX &amp; Frontend — Desain antarmuka, GSAP, shadcn/ui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77056"/>
            <a:ext cx="5486400" cy="640080"/>
          </a:xfrm>
          <a:prstGeom prst="rect">
            <a:avLst/>
          </a:prstGeom>
          <a:noFill/>
          <a:ln w="12700">
            <a:solidFill>
              <a:srgbClr val="E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877056"/>
            <a:ext cx="73152" cy="6400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92277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Calibri"/>
              </a:rPr>
              <a:t>Alyah Saputri Bakri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17880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105841107723  ·  DevOps &amp; Deployment — Oracle Cloud, Nginx, PM2, DuckDNS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  <a:latin typeface="Calibri"/>
              </a:rPr>
              <a:t>Rekomendasi Pengembangan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627632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Migrasi JWT ke httpOnly Cookie (XSS protection)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Upgrade ke Next.js 15.x untuk fix remaining CVE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Implementasi Semgrep via WSL untuk SAST lebih mendalam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Password Reset Flow dengan email verification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Export PDF rekam medis untuk pasien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Notifikasi real-time status kunjungan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Pre-commit security hook otomatis (Husky)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0C4FF"/>
                </a:solidFill>
                <a:latin typeface="Calibri"/>
              </a:rPr>
              <a:t>MedCampus — Sistem Rekam Medis Klinik Kampus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474720"/>
            <a:ext cx="36576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Calibri"/>
              </a:rPr>
              <a:t>Live Application: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60520"/>
            <a:ext cx="4114800" cy="5029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https://medcampus.duckdns.org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3749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Calibri"/>
              </a:rPr>
              <a:t>GitHub Repository: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4160520"/>
            <a:ext cx="4114800" cy="502920"/>
          </a:xfrm>
          <a:prstGeom prst="rect">
            <a:avLst/>
          </a:prstGeom>
          <a:solidFill>
            <a:srgbClr val="18181B"/>
          </a:solidFill>
          <a:ln w="12700">
            <a:solidFill>
              <a:srgbClr val="6E6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41605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github.com/Kahfi10/medcampus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60"/>
                </a:solidFill>
                <a:latin typeface="Calibri"/>
              </a:rPr>
              <a:t>Universitas Muhammadiyah Makassar  ·  Fakultas Teknik  ·  Informatika  · 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